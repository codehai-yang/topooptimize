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88952" cy="73152"/>
          </a:xfrm>
          <a:prstGeom prst="rect">
            <a:avLst/>
          </a:prstGeom>
          <a:solidFill>
            <a:srgbClr val="E86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5156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微软雅黑"/>
                <a:ea typeface="微软雅黑"/>
              </a:rPr>
              <a:t>能量流绕路算法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5156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200" b="0">
                <a:solidFill>
                  <a:srgbClr val="CCDDEE"/>
                </a:solidFill>
                <a:latin typeface="微软雅黑"/>
                <a:ea typeface="微软雅黑"/>
              </a:rPr>
              <a:t>Energy Flow Detour Analysis on Harness Topology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0">
                <a:solidFill>
                  <a:srgbClr val="EEEEEE"/>
                </a:solidFill>
                <a:latin typeface="微软雅黑"/>
                <a:ea typeface="微软雅黑"/>
              </a:rPr>
              <a:t>基于用电器图的能量流路径搜索与绕路量化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93776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微软雅黑"/>
                <a:ea typeface="微软雅黑"/>
              </a:rPr>
              <a:t>HarnessPackOpti · 算法组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9496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0">
                <a:solidFill>
                  <a:srgbClr val="CCCCCC"/>
                </a:solidFill>
                <a:latin typeface="微软雅黑"/>
                <a:ea typeface="微软雅黑"/>
              </a:rPr>
              <a:t>2026-07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目录 ·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64592"/>
            <a:ext cx="137160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400" b="0">
                <a:solidFill>
                  <a:srgbClr val="FFFFFF"/>
                </a:solidFill>
                <a:latin typeface="微软雅黑"/>
                <a:ea typeface="微软雅黑"/>
              </a:rPr>
              <a:t>2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>
                <a:solidFill>
                  <a:srgbClr val="2C2C2C"/>
                </a:solidFill>
                <a:latin typeface="微软雅黑"/>
                <a:ea typeface="微软雅黑"/>
              </a:rPr>
              <a:t>• 1. 背景与目标</a:t>
            </a:r>
          </a:p>
          <a:p>
            <a:pPr algn="l"/>
            <a:r>
              <a:rPr sz="2000">
                <a:solidFill>
                  <a:srgbClr val="2C2C2C"/>
                </a:solidFill>
                <a:latin typeface="微软雅黑"/>
                <a:ea typeface="微软雅黑"/>
              </a:rPr>
              <a:t>• 2. 核心概念：用电器图</a:t>
            </a:r>
          </a:p>
          <a:p>
            <a:pPr algn="l"/>
            <a:r>
              <a:rPr sz="2000">
                <a:solidFill>
                  <a:srgbClr val="2C2C2C"/>
                </a:solidFill>
                <a:latin typeface="微软雅黑"/>
                <a:ea typeface="微软雅黑"/>
              </a:rPr>
              <a:t>• 3. 触发条件与跳过规则</a:t>
            </a:r>
          </a:p>
          <a:p>
            <a:pPr algn="l"/>
            <a:r>
              <a:rPr sz="2000">
                <a:solidFill>
                  <a:srgbClr val="2C2C2C"/>
                </a:solidFill>
                <a:latin typeface="微软雅黑"/>
                <a:ea typeface="微软雅黑"/>
              </a:rPr>
              <a:t>• 4. 朝向选择（叶子端判定）</a:t>
            </a:r>
          </a:p>
          <a:p>
            <a:pPr algn="l"/>
            <a:r>
              <a:rPr sz="2000">
                <a:solidFill>
                  <a:srgbClr val="2C2C2C"/>
                </a:solidFill>
                <a:latin typeface="微软雅黑"/>
                <a:ea typeface="微软雅黑"/>
              </a:rPr>
              <a:t>• 5. 优先级模板（核心 7 规则）</a:t>
            </a:r>
          </a:p>
          <a:p>
            <a:pPr algn="l"/>
            <a:r>
              <a:rPr sz="2000">
                <a:solidFill>
                  <a:srgbClr val="2C2C2C"/>
                </a:solidFill>
                <a:latin typeface="微软雅黑"/>
                <a:ea typeface="微软雅黑"/>
              </a:rPr>
              <a:t>• 6. 锚点路径：强制经过本回路两端</a:t>
            </a:r>
          </a:p>
          <a:p>
            <a:pPr algn="l"/>
            <a:r>
              <a:rPr sz="2000">
                <a:solidFill>
                  <a:srgbClr val="2C2C2C"/>
                </a:solidFill>
                <a:latin typeface="微软雅黑"/>
                <a:ea typeface="微软雅黑"/>
              </a:rPr>
              <a:t>• 7. DFS 模板严格匹配</a:t>
            </a:r>
          </a:p>
          <a:p>
            <a:pPr algn="l"/>
            <a:r>
              <a:rPr sz="2000">
                <a:solidFill>
                  <a:srgbClr val="2C2C2C"/>
                </a:solidFill>
                <a:latin typeface="微软雅黑"/>
                <a:ea typeface="微软雅黑"/>
              </a:rPr>
              <a:t>• 8. 路径展开为真实走线</a:t>
            </a:r>
          </a:p>
          <a:p>
            <a:pPr algn="l"/>
            <a:r>
              <a:rPr sz="2000">
                <a:solidFill>
                  <a:srgbClr val="2C2C2C"/>
                </a:solidFill>
                <a:latin typeface="微软雅黑"/>
                <a:ea typeface="微软雅黑"/>
              </a:rPr>
              <a:t>• 9. 绕路长度计算</a:t>
            </a:r>
          </a:p>
          <a:p>
            <a:pPr algn="l"/>
            <a:r>
              <a:rPr sz="2000">
                <a:solidFill>
                  <a:srgbClr val="2C2C2C"/>
                </a:solidFill>
                <a:latin typeface="微软雅黑"/>
                <a:ea typeface="微软雅黑"/>
              </a:rPr>
              <a:t>• 10. 汇总输出字段</a:t>
            </a:r>
          </a:p>
          <a:p>
            <a:pPr algn="l"/>
            <a:r>
              <a:rPr sz="2000">
                <a:solidFill>
                  <a:srgbClr val="2C2C2C"/>
                </a:solidFill>
                <a:latin typeface="微软雅黑"/>
                <a:ea typeface="微软雅黑"/>
              </a:rPr>
              <a:t>• 11. 案例与复杂度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1. 背景与目标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64592"/>
            <a:ext cx="137160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400" b="0">
                <a:solidFill>
                  <a:srgbClr val="FFFFFF"/>
                </a:solidFill>
                <a:latin typeface="微软雅黑"/>
                <a:ea typeface="微软雅黑"/>
              </a:rPr>
              <a:t>3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2C2C2C"/>
                </a:solidFill>
                <a:latin typeface="微软雅黑"/>
                <a:ea typeface="微软雅黑"/>
              </a:rPr>
              <a:t>• 背景：整车线束拓扑优化后，电路被"打断"或"绕线"，能量流实际走线路径与理想最短路可能不一致。</a:t>
            </a:r>
          </a:p>
          <a:p>
            <a:pPr algn="l"/>
            <a:r>
              <a:rPr sz="1800">
                <a:solidFill>
                  <a:srgbClr val="2C2C2C"/>
                </a:solidFill>
                <a:latin typeface="微软雅黑"/>
                <a:ea typeface="微软雅黑"/>
              </a:rPr>
              <a:t>• 需求：量化每条能量流回路的"绕路程度"，作为方案质量评估的核心指标之一。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106984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E86A33"/>
                </a:solidFill>
                <a:latin typeface="微软雅黑"/>
                <a:ea typeface="微软雅黑"/>
              </a:rPr>
              <a:t>算法目标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6616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2C2C2C"/>
                </a:solidFill>
                <a:latin typeface="微软雅黑"/>
                <a:ea typeface="微软雅黑"/>
              </a:rPr>
              <a:t>• 识别每条回路的"能量流路径"（从 发电/储电 → 消费端 的完整链路）</a:t>
            </a:r>
          </a:p>
          <a:p>
            <a:pPr algn="l"/>
            <a:r>
              <a:rPr sz="1800">
                <a:solidFill>
                  <a:srgbClr val="2C2C2C"/>
                </a:solidFill>
                <a:latin typeface="微软雅黑"/>
                <a:ea typeface="微软雅黑"/>
              </a:rPr>
              <a:t>• 强制本回路两端必须出现在能量流路径中（保证合点/焊点位置的语义正确）</a:t>
            </a:r>
          </a:p>
          <a:p>
            <a:pPr algn="l"/>
            <a:r>
              <a:rPr sz="1800">
                <a:solidFill>
                  <a:srgbClr val="2C2C2C"/>
                </a:solidFill>
                <a:latin typeface="微软雅黑"/>
                <a:ea typeface="微软雅黑"/>
              </a:rPr>
              <a:t>• 对比"绕路实际长度"与"不绕路最短长度"，得到绕路长度</a:t>
            </a:r>
          </a:p>
          <a:p>
            <a:pPr algn="l"/>
            <a:r>
              <a:rPr sz="1800">
                <a:solidFill>
                  <a:srgbClr val="2C2C2C"/>
                </a:solidFill>
                <a:latin typeface="微软雅黑"/>
                <a:ea typeface="微软雅黑"/>
              </a:rPr>
              <a:t>• 汇总输出 6 个能量流字段 + 每条回路明细结果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2. 核心概念：用电器图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64592"/>
            <a:ext cx="137160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400" b="0">
                <a:solidFill>
                  <a:srgbClr val="FFFFFF"/>
                </a:solidFill>
                <a:latin typeface="微软雅黑"/>
                <a:ea typeface="微软雅黑"/>
              </a:rPr>
              <a:t>4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2C2C2C"/>
                </a:solidFill>
                <a:latin typeface="微软雅黑"/>
                <a:ea typeface="微软雅黑"/>
              </a:rPr>
              <a:t>• 节点：每个用电器（控制器/PDU/发电机/储电/合点/用电器）</a:t>
            </a:r>
          </a:p>
          <a:p>
            <a:pPr algn="l"/>
            <a:r>
              <a:rPr sz="1800">
                <a:solidFill>
                  <a:srgbClr val="2C2C2C"/>
                </a:solidFill>
                <a:latin typeface="微软雅黑"/>
                <a:ea typeface="微软雅黑"/>
              </a:rPr>
              <a:t>• 边：每条回路连接两个用电器；边带回路id、信号名、起终点位置</a:t>
            </a:r>
          </a:p>
          <a:p>
            <a:pPr algn="l"/>
            <a:r>
              <a:rPr sz="1800">
                <a:solidFill>
                  <a:srgbClr val="2C2C2C"/>
                </a:solidFill>
                <a:latin typeface="微软雅黑"/>
                <a:ea typeface="微软雅黑"/>
              </a:rPr>
              <a:t>• 两个图协同：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微软雅黑"/>
                <a:ea typeface="微软雅黑"/>
              </a:rPr>
              <a:t>用电器图 (Appliance Graph)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2C2C2C"/>
                </a:solidFill>
                <a:latin typeface="微软雅黑"/>
                <a:ea typeface="微软雅黑"/>
              </a:rPr>
              <a:t>• 构建来源：从所有 loopdetails 提取，扫描 2 遍（先收集焊点位置，再构建双向边）</a:t>
            </a:r>
          </a:p>
          <a:p>
            <a:pPr algn="l"/>
            <a:r>
              <a:rPr sz="1600">
                <a:solidFill>
                  <a:srgbClr val="2C2C2C"/>
                </a:solidFill>
                <a:latin typeface="微软雅黑"/>
                <a:ea typeface="微软雅黑"/>
              </a:rPr>
              <a:t>• 应用：DFS 模板匹配（用电器类型序列）</a:t>
            </a:r>
          </a:p>
          <a:p>
            <a:pPr algn="l"/>
            <a:r>
              <a:rPr sz="1600">
                <a:solidFill>
                  <a:srgbClr val="2C2C2C"/>
                </a:solidFill>
                <a:latin typeface="微软雅黑"/>
                <a:ea typeface="微软雅黑"/>
              </a:rPr>
              <a:t>• 性能上限：路径数 ≤ 200，深度 ≤ 100（防 OOM）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4632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微软雅黑"/>
                <a:ea typeface="微软雅黑"/>
              </a:rPr>
              <a:t>位置图 (Position Graph)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03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2C2C2C"/>
                </a:solidFill>
                <a:latin typeface="微软雅黑"/>
                <a:ea typeface="微软雅黑"/>
              </a:rPr>
              <a:t>• 全连通邻接表 + 边长度（用户确认/参考长度）</a:t>
            </a:r>
          </a:p>
          <a:p>
            <a:pPr algn="l"/>
            <a:r>
              <a:rPr sz="1600">
                <a:solidFill>
                  <a:srgbClr val="2C2C2C"/>
                </a:solidFill>
                <a:latin typeface="微软雅黑"/>
                <a:ea typeface="微软雅黑"/>
              </a:rPr>
              <a:t>• 应用：把用电器路径展开为真实位置级路径 / 计算不绕路最短路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节点类型与符号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64592"/>
            <a:ext cx="137160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400" b="0">
                <a:solidFill>
                  <a:srgbClr val="FFFFFF"/>
                </a:solidFill>
                <a:latin typeface="微软雅黑"/>
                <a:ea typeface="微软雅黑"/>
              </a:rPr>
              <a:t>5 / 18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188720"/>
          <a:ext cx="10698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587828"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符号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类型名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角色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示例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587828"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A</a:t>
                      </a:r>
                    </a:p>
                  </a:txBody>
                  <a:tcPr>
                    <a:solidFill>
                      <a:srgbClr val="E86A33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</a:rPr>
                        <a:t>用电器</a:t>
                      </a:r>
                    </a:p>
                  </a:txBody>
                  <a:tcPr/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</a:rPr>
                        <a:t>消费端（叶子端候选）</a:t>
                      </a:r>
                    </a:p>
                  </a:txBody>
                  <a:tcPr/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</a:rPr>
                        <a:t>大灯/雨刮电机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C</a:t>
                      </a:r>
                    </a:p>
                  </a:txBody>
                  <a:tcPr>
                    <a:solidFill>
                      <a:srgbClr val="E86A33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</a:rPr>
                        <a:t>控制器</a:t>
                      </a:r>
                    </a:p>
                  </a:txBody>
                  <a:tcPr/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</a:rPr>
                        <a:t>消费端（叶子端候选）</a:t>
                      </a:r>
                    </a:p>
                  </a:txBody>
                  <a:tcPr/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</a:rPr>
                        <a:t>BCM/网关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P</a:t>
                      </a:r>
                    </a:p>
                  </a:txBody>
                  <a:tcPr>
                    <a:solidFill>
                      <a:srgbClr val="E86A33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</a:rPr>
                        <a:t>配电单元</a:t>
                      </a:r>
                    </a:p>
                  </a:txBody>
                  <a:tcPr/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</a:rPr>
                        <a:t>中间分配节点</a:t>
                      </a:r>
                    </a:p>
                  </a:txBody>
                  <a:tcPr/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</a:rPr>
                        <a:t>前舱 PDU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J</a:t>
                      </a:r>
                    </a:p>
                  </a:txBody>
                  <a:tcPr>
                    <a:solidFill>
                      <a:srgbClr val="E86A33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</a:rPr>
                        <a:t>合点/焊点</a:t>
                      </a:r>
                    </a:p>
                  </a:txBody>
                  <a:tcPr/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</a:rPr>
                        <a:t>中间穿过节点（不作叶子）</a:t>
                      </a:r>
                    </a:p>
                  </a:txBody>
                  <a:tcPr/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</a:rPr>
                        <a:t>左后轮包顶点[1]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G</a:t>
                      </a:r>
                    </a:p>
                  </a:txBody>
                  <a:tcPr>
                    <a:solidFill>
                      <a:srgbClr val="E86A33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</a:rPr>
                        <a:t>发电单元</a:t>
                      </a:r>
                    </a:p>
                  </a:txBody>
                  <a:tcPr/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</a:rPr>
                        <a:t>能量流源头 1</a:t>
                      </a:r>
                    </a:p>
                  </a:txBody>
                  <a:tcPr/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</a:rPr>
                        <a:t>发电机</a:t>
                      </a:r>
                    </a:p>
                  </a:txBody>
                  <a:tcPr/>
                </a:tc>
              </a:tr>
              <a:tr h="587832"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B</a:t>
                      </a:r>
                    </a:p>
                  </a:txBody>
                  <a:tcPr>
                    <a:solidFill>
                      <a:srgbClr val="E86A33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</a:rPr>
                        <a:t>储电单元</a:t>
                      </a:r>
                    </a:p>
                  </a:txBody>
                  <a:tcPr/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</a:rPr>
                        <a:t>能量流源头 2</a:t>
                      </a:r>
                    </a:p>
                  </a:txBody>
                  <a:tcPr/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</a:rPr>
                        <a:t>蓄电池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486400"/>
            <a:ext cx="1069848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>
                <a:solidFill>
                  <a:srgbClr val="E86A33"/>
                </a:solidFill>
                <a:latin typeface="微软雅黑"/>
                <a:ea typeface="微软雅黑"/>
              </a:rPr>
              <a:t>关键：合点永远作为"中间节点"被穿过，不作为叶子端（回溯起点）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3. 触发条件与跳过规则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64592"/>
            <a:ext cx="137160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400" b="0">
                <a:solidFill>
                  <a:srgbClr val="FFFFFF"/>
                </a:solidFill>
                <a:latin typeface="微软雅黑"/>
                <a:ea typeface="微软雅黑"/>
              </a:rPr>
              <a:t>6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5486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4CAF50"/>
                </a:solidFill>
                <a:latin typeface="微软雅黑"/>
                <a:ea typeface="微软雅黑"/>
              </a:rPr>
              <a:t>✓ 触发计算（满足全部）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2C2C2C"/>
                </a:solidFill>
                <a:latin typeface="微软雅黑"/>
                <a:ea typeface="微软雅黑"/>
              </a:rPr>
              <a:t>• 回路属性 = "配电回路" 或 "驱动回路"</a:t>
            </a:r>
          </a:p>
          <a:p>
            <a:pPr algn="l"/>
            <a:r>
              <a:rPr sz="1400">
                <a:solidFill>
                  <a:srgbClr val="2C2C2C"/>
                </a:solidFill>
                <a:latin typeface="微软雅黑"/>
                <a:ea typeface="微软雅黑"/>
              </a:rPr>
              <a:t>• 回路信号名含关键字：KL30, EFS, ESW, HSD, DRV, KL.30, KL.R, KL.15, KL.87（大小写不敏感）</a:t>
            </a:r>
          </a:p>
          <a:p>
            <a:pPr algn="l"/>
            <a:r>
              <a:rPr sz="1400">
                <a:solidFill>
                  <a:srgbClr val="2C2C2C"/>
                </a:solidFill>
                <a:latin typeface="微软雅黑"/>
                <a:ea typeface="微软雅黑"/>
              </a:rPr>
              <a:t>• 起/终点用电器名称都存在</a:t>
            </a:r>
          </a:p>
          <a:p>
            <a:pPr algn="l"/>
            <a:r>
              <a:rPr sz="1400">
                <a:solidFill>
                  <a:srgbClr val="2C2C2C"/>
                </a:solidFill>
                <a:latin typeface="微软雅黑"/>
                <a:ea typeface="微软雅黑"/>
              </a:rPr>
              <a:t>• 两端类型组合属于"规则回路"（7 种之一）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005840"/>
            <a:ext cx="5486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C0392B"/>
                </a:solidFill>
                <a:latin typeface="微软雅黑"/>
                <a:ea typeface="微软雅黑"/>
              </a:rPr>
              <a:t>✗ 跳过计算（任一命中）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55448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2C2C2C"/>
                </a:solidFill>
                <a:latin typeface="微软雅黑"/>
                <a:ea typeface="微软雅黑"/>
              </a:rPr>
              <a:t>• 规则1：发电/储电 ↔ 配电单元（直连，无绕路语义）</a:t>
            </a:r>
          </a:p>
          <a:p>
            <a:pPr algn="l"/>
            <a:r>
              <a:rPr sz="1400">
                <a:solidFill>
                  <a:srgbClr val="2C2C2C"/>
                </a:solidFill>
                <a:latin typeface="微软雅黑"/>
                <a:ea typeface="微软雅黑"/>
              </a:rPr>
              <a:t>• 非配电/驱动回路（主供电/硬线/接地/高速线缆）</a:t>
            </a:r>
          </a:p>
          <a:p>
            <a:pPr algn="l"/>
            <a:r>
              <a:rPr sz="1400">
                <a:solidFill>
                  <a:srgbClr val="2C2C2C"/>
                </a:solidFill>
                <a:latin typeface="微软雅黑"/>
                <a:ea typeface="微软雅黑"/>
              </a:rPr>
              <a:t>• 缺少用电器名称</a:t>
            </a:r>
          </a:p>
          <a:p>
            <a:pPr algn="l"/>
            <a:r>
              <a:rPr sz="1400">
                <a:solidFill>
                  <a:srgbClr val="2C2C2C"/>
                </a:solidFill>
                <a:latin typeface="微软雅黑"/>
                <a:ea typeface="微软雅黑"/>
              </a:rPr>
              <a:t>• 非规则端点组合（用电器↔用电器、配电↔配电、合点↔合点）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微软雅黑"/>
                <a:ea typeface="微软雅黑"/>
              </a:rPr>
              <a:t>信号名关键字校验（取最后两段判断）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2C2C2C"/>
                </a:solidFill>
                <a:latin typeface="微软雅黑"/>
                <a:ea typeface="微软雅黑"/>
              </a:rPr>
              <a:t>• abc_KL30 → 命中（KL30）</a:t>
            </a:r>
          </a:p>
          <a:p>
            <a:pPr algn="l"/>
            <a:r>
              <a:rPr sz="1400">
                <a:solidFill>
                  <a:srgbClr val="2C2C2C"/>
                </a:solidFill>
                <a:latin typeface="微软雅黑"/>
                <a:ea typeface="微软雅黑"/>
              </a:rPr>
              <a:t>• xxx.efs_def → 命中（EFS）</a:t>
            </a:r>
          </a:p>
          <a:p>
            <a:pPr algn="l"/>
            <a:r>
              <a:rPr sz="1400">
                <a:solidFill>
                  <a:srgbClr val="2C2C2C"/>
                </a:solidFill>
                <a:latin typeface="微软雅黑"/>
                <a:ea typeface="微软雅黑"/>
              </a:rPr>
              <a:t>• mod-HSD-yyy → 命中（HSD）</a:t>
            </a:r>
          </a:p>
          <a:p>
            <a:pPr algn="l"/>
            <a:r>
              <a:rPr sz="1400">
                <a:solidFill>
                  <a:srgbClr val="2C2C2C"/>
                </a:solidFill>
                <a:latin typeface="微软雅黑"/>
                <a:ea typeface="微软雅黑"/>
              </a:rPr>
              <a:t>• plain_name → 不命中（无关键字）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4. 朝向选择（叶子端判定）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64592"/>
            <a:ext cx="137160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400" b="0">
                <a:solidFill>
                  <a:srgbClr val="FFFFFF"/>
                </a:solidFill>
                <a:latin typeface="微软雅黑"/>
                <a:ea typeface="微软雅黑"/>
              </a:rPr>
              <a:t>7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6984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  <a:latin typeface="微软雅黑"/>
                <a:ea typeface="微软雅黑"/>
              </a:rPr>
              <a:t>叶子端 = 能量流回溯的起点（消费端）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828800"/>
          <a:ext cx="10058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352800"/>
                <a:gridCol w="3352800"/>
              </a:tblGrid>
              <a:tr h="342900"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优先级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类型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说明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42900"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>
                    <a:solidFill>
                      <a:srgbClr val="E86A33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300" b="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</a:rPr>
                        <a:t>用电器 (A)</a:t>
                      </a:r>
                    </a:p>
                  </a:txBody>
                  <a:tcPr/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300" b="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</a:rPr>
                        <a:t>最高优先级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E86A33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300" b="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</a:rPr>
                        <a:t>控制器 (C)</a:t>
                      </a:r>
                    </a:p>
                  </a:txBody>
                  <a:tcPr/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300" b="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</a:rPr>
                        <a:t>次高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-1</a:t>
                      </a:r>
                    </a:p>
                  </a:txBody>
                  <a:tcPr>
                    <a:solidFill>
                      <a:srgbClr val="E86A33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300" b="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</a:rPr>
                        <a:t>其他</a:t>
                      </a:r>
                    </a:p>
                  </a:txBody>
                  <a:tcPr/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300" b="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</a:rPr>
                        <a:t>不作为叶子端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3566160"/>
            <a:ext cx="106984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E86A33"/>
                </a:solidFill>
                <a:latin typeface="微软雅黑"/>
                <a:ea typeface="微软雅黑"/>
              </a:rPr>
              <a:t>关键：合点（焊点）永远不作为叶子端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2C2C2C"/>
                </a:solidFill>
                <a:latin typeface="微软雅黑"/>
                <a:ea typeface="微软雅黑"/>
              </a:rPr>
              <a:t>• 两端的叶子端都试一遍：分别作为 terminal、上游端作为 upstream</a:t>
            </a:r>
          </a:p>
          <a:p>
            <a:pPr algn="l"/>
            <a:r>
              <a:rPr sz="1600">
                <a:solidFill>
                  <a:srgbClr val="2C2C2C"/>
                </a:solidFill>
                <a:latin typeface="微软雅黑"/>
                <a:ea typeface="微软雅黑"/>
              </a:rPr>
              <a:t>• 如果两端都不是叶子类型（如 配电↔配电）→ 退化为两个朝向都试</a:t>
            </a:r>
          </a:p>
          <a:p>
            <a:pPr algn="l"/>
            <a:r>
              <a:rPr sz="1600">
                <a:solidFill>
                  <a:srgbClr val="2C2C2C"/>
                </a:solidFill>
                <a:latin typeface="微软雅黑"/>
                <a:ea typeface="微软雅黑"/>
              </a:rPr>
              <a:t>• 最终从候选中选：优先级最高 &gt; 同优先级取能量流路径最短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5. 优先级模板（核心 7 规则）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64592"/>
            <a:ext cx="137160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400" b="0">
                <a:solidFill>
                  <a:srgbClr val="FFFFFF"/>
                </a:solidFill>
                <a:latin typeface="微软雅黑"/>
                <a:ea typeface="微软雅黑"/>
              </a:rPr>
              <a:t>8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4300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微软雅黑"/>
                <a:ea typeface="微软雅黑"/>
              </a:rPr>
              <a:t>按回路两端类型生成类型序列模板，从高到低逐模板匹配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571500"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规则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端点组合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模板示例（高→低）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571500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</a:rPr>
                        <a:t>规则 2</a:t>
                      </a:r>
                    </a:p>
                  </a:txBody>
                  <a:tcPr/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</a:rPr>
                        <a:t>配电 ↔ 控制器</a:t>
                      </a:r>
                    </a:p>
                  </a:txBody>
                  <a:tcPr/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</a:rPr>
                        <a:t>C→P→G, C→P→B, C→P→P→G, C→P→P→B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</a:rPr>
                        <a:t>规则 3</a:t>
                      </a:r>
                    </a:p>
                  </a:txBody>
                  <a:tcPr/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</a:rPr>
                        <a:t>配电 ↔ 用电器</a:t>
                      </a:r>
                    </a:p>
                  </a:txBody>
                  <a:tcPr/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</a:rPr>
                        <a:t>A→P→G, A→P→B, A→P→P→G, A→P→P→B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</a:rPr>
                        <a:t>规则 4</a:t>
                      </a:r>
                    </a:p>
                  </a:txBody>
                  <a:tcPr/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</a:rPr>
                        <a:t>控制器 ↔ 用电器</a:t>
                      </a:r>
                    </a:p>
                  </a:txBody>
                  <a:tcPr/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</a:rPr>
                        <a:t>A→C→P→G, A→C→P→P→B, ... (6个)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</a:rPr>
                        <a:t>规则 5</a:t>
                      </a:r>
                    </a:p>
                  </a:txBody>
                  <a:tcPr/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</a:rPr>
                        <a:t>控制器 ↔ 控制器</a:t>
                      </a:r>
                    </a:p>
                  </a:txBody>
                  <a:tcPr/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</a:rPr>
                        <a:t>C→C→P→G/B, C→C→P→P→G/B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</a:rPr>
                        <a:t>规则 6</a:t>
                      </a:r>
                    </a:p>
                  </a:txBody>
                  <a:tcPr/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</a:rPr>
                        <a:t>用电器 ↔ 合点</a:t>
                      </a:r>
                    </a:p>
                  </a:txBody>
                  <a:tcPr/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</a:rPr>
                        <a:t>A→J→P→G, A→J→C→P→G, A→J→C→C→P→G, ... (12个)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</a:rPr>
                        <a:t>规则 7</a:t>
                      </a:r>
                    </a:p>
                  </a:txBody>
                  <a:tcPr/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</a:rPr>
                        <a:t>控制器 ↔ 合点</a:t>
                      </a:r>
                    </a:p>
                  </a:txBody>
                  <a:tcPr/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</a:rPr>
                        <a:t>C→J→P→G, C→J→C→P→G, ... (8个)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</a:rPr>
                        <a:t>兜底</a:t>
                      </a:r>
                    </a:p>
                  </a:txBody>
                  <a:tcPr/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</a:rPr>
                        <a:t>其他组合</a:t>
                      </a:r>
                    </a:p>
                  </a:txBody>
                  <a:tcPr/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</a:rPr>
                        <a:t>C→P→G/B, C→P→P→G/B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217920"/>
            <a:ext cx="11430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E86A33"/>
                </a:solidFill>
                <a:latin typeface="微软雅黑"/>
                <a:ea typeface="微软雅黑"/>
              </a:rPr>
              <a:t>★ 高优先级模板命中一条即停止，不再尝试更低优先级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6. 锚点路径：强制经过本回路两端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64592"/>
            <a:ext cx="137160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400" b="0">
                <a:solidFill>
                  <a:srgbClr val="FFFFFF"/>
                </a:solidFill>
                <a:latin typeface="微软雅黑"/>
                <a:ea typeface="微软雅黑"/>
              </a:rPr>
              <a:t>9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2C2C2C"/>
                </a:solidFill>
                <a:latin typeface="微软雅黑"/>
                <a:ea typeface="微软雅黑"/>
              </a:rPr>
              <a:t>• 问题：最短路径可能跳过本回路两端 → 合点/焊点位置丢失</a:t>
            </a:r>
          </a:p>
          <a:p>
            <a:pPr algn="l"/>
            <a:r>
              <a:rPr sz="1800">
                <a:solidFill>
                  <a:srgbClr val="2C2C2C"/>
                </a:solidFill>
                <a:latin typeface="微软雅黑"/>
                <a:ea typeface="微软雅黑"/>
              </a:rPr>
              <a:t>• 方案：以回路两端为锚点，强制 terminal → upstream 段一定在路径里</a:t>
            </a:r>
          </a:p>
          <a:p>
            <a:pPr algn="l"/>
            <a:r>
              <a:rPr sz="1800">
                <a:solidFill>
                  <a:srgbClr val="2C2C2C"/>
                </a:solidFill>
                <a:latin typeface="微软雅黑"/>
                <a:ea typeface="微软雅黑"/>
              </a:rPr>
              <a:t>• 锚点段用本回路的"回路途径分支点"定向展开（保证电流沿着本回路自身的线走）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106984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  <a:latin typeface="微软雅黑"/>
                <a:ea typeface="微软雅黑"/>
              </a:rPr>
              <a:t>路径展开流程（逐段拼接）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6616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2C2C2C"/>
                </a:solidFill>
                <a:latin typeface="微软雅黑"/>
                <a:ea typeface="微软雅黑"/>
              </a:rPr>
              <a:t>• 对用电器路径的每一对 (a, b)：</a:t>
            </a:r>
          </a:p>
          <a:p>
            <a:pPr algn="l"/>
            <a:r>
              <a:rPr sz="1500">
                <a:solidFill>
                  <a:srgbClr val="2C2C2C"/>
                </a:solidFill>
                <a:latin typeface="微软雅黑"/>
                <a:ea typeface="微软雅黑"/>
              </a:rPr>
              <a:t>•     - 锚点段（a==terminal 且 b==upstream）→ 用 ownBranchPoints 定向（需以 terminalPos 开头）</a:t>
            </a:r>
          </a:p>
          <a:p>
            <a:pPr algn="l"/>
            <a:r>
              <a:rPr sz="1500">
                <a:solidFill>
                  <a:srgbClr val="2C2C2C"/>
                </a:solidFill>
                <a:latin typeface="微软雅黑"/>
                <a:ea typeface="微软雅黑"/>
              </a:rPr>
              <a:t>•     - 其他段 → 用位置图 Dijkstra 展开为真实位置序列</a:t>
            </a:r>
          </a:p>
          <a:p>
            <a:pPr algn="l"/>
            <a:r>
              <a:rPr sz="1500">
                <a:solidFill>
                  <a:srgbClr val="2C2C2C"/>
                </a:solidFill>
                <a:latin typeface="微软雅黑"/>
                <a:ea typeface="微软雅黑"/>
              </a:rPr>
              <a:t>• 相邻段拼接时去重第一个节点（避免重复）</a:t>
            </a:r>
          </a:p>
          <a:p>
            <a:pPr algn="l"/>
            <a:r>
              <a:rPr sz="1500">
                <a:solidFill>
                  <a:srgbClr val="2C2C2C"/>
                </a:solidFill>
                <a:latin typeface="微软雅黑"/>
                <a:ea typeface="微软雅黑"/>
              </a:rPr>
              <a:t>• 最终统一反转顺序为：源 → ... → 消费端（与历史输出一致）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7. DFS 模板严格匹配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64592"/>
            <a:ext cx="137160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400" b="0">
                <a:solidFill>
                  <a:srgbClr val="FFFFFF"/>
                </a:solidFill>
                <a:latin typeface="微软雅黑"/>
                <a:ea typeface="微软雅黑"/>
              </a:rPr>
              <a:t>10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>
                <a:solidFill>
                  <a:srgbClr val="2C2C2C"/>
                </a:solidFill>
                <a:latin typeface="微软雅黑"/>
                <a:ea typeface="微软雅黑"/>
              </a:rPr>
              <a:t>• 输入：模板序列 [terminalType, upstreamType, ...]</a:t>
            </a:r>
          </a:p>
          <a:p>
            <a:pPr algn="l"/>
            <a:r>
              <a:rPr sz="1700">
                <a:solidFill>
                  <a:srgbClr val="2C2C2C"/>
                </a:solidFill>
                <a:latin typeface="微软雅黑"/>
                <a:ea typeface="微软雅黑"/>
              </a:rPr>
              <a:t>• 方法：从 currentApp(类型=template[idx-1]) 出发，要求下一步邻居类型 == template[idx]</a:t>
            </a:r>
          </a:p>
          <a:p>
            <a:pPr algn="l"/>
            <a:r>
              <a:rPr sz="1700">
                <a:solidFill>
                  <a:srgbClr val="2C2C2C"/>
                </a:solidFill>
                <a:latin typeface="微软雅黑"/>
                <a:ea typeface="微软雅黑"/>
              </a:rPr>
              <a:t>• 到达模板末尾（源）即记录一条完整路径</a:t>
            </a:r>
          </a:p>
          <a:p>
            <a:pPr algn="l"/>
            <a:r>
              <a:rPr sz="1700">
                <a:solidFill>
                  <a:srgbClr val="2C2C2C"/>
                </a:solidFill>
                <a:latin typeface="微软雅黑"/>
                <a:ea typeface="微软雅黑"/>
              </a:rPr>
              <a:t>• 全用 DFS + 回溯 + visited 集合，遍历所有可能路径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106984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E86A33"/>
                </a:solidFill>
                <a:latin typeface="微软雅黑"/>
                <a:ea typeface="微软雅黑"/>
              </a:rPr>
              <a:t>★ 控制器 → 控制器 跳转的额外校验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2C2C2C"/>
                </a:solidFill>
                <a:latin typeface="微软雅黑"/>
                <a:ea typeface="微软雅黑"/>
              </a:rPr>
              <a:t>• 邻居类型必须 == "控制器"</a:t>
            </a:r>
          </a:p>
          <a:p>
            <a:pPr algn="l"/>
            <a:r>
              <a:rPr sz="1500">
                <a:solidFill>
                  <a:srgbClr val="2C2C2C"/>
                </a:solidFill>
                <a:latin typeface="微软雅黑"/>
                <a:ea typeface="微软雅黑"/>
              </a:rPr>
              <a:t>• 对应回路的信号名必须包含能量流关键字（KL30/EFS/ESW/HSD/DRV/KL.15/KL.30/KL.87/KL.R）</a:t>
            </a:r>
          </a:p>
          <a:p>
            <a:pPr algn="l"/>
            <a:r>
              <a:rPr sz="1500">
                <a:solidFill>
                  <a:srgbClr val="2C2C2C"/>
                </a:solidFill>
                <a:latin typeface="微软雅黑"/>
                <a:ea typeface="微软雅黑"/>
              </a:rPr>
              <a:t>• 否则该跳转不成立（防止"无意义跳线"被纳入能量流）</a:t>
            </a:r>
          </a:p>
          <a:p>
            <a:pPr algn="l"/>
            <a:r>
              <a:rPr sz="1500">
                <a:solidFill>
                  <a:srgbClr val="2C2C2C"/>
                </a:solidFill>
                <a:latin typeface="微软雅黑"/>
                <a:ea typeface="微软雅黑"/>
              </a:rPr>
              <a:t>• 其他类型跳转不做信号名校验（控制器→PDU、PDU→发电机等是固定连接）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8. 多路径选最短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64592"/>
            <a:ext cx="137160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400" b="0">
                <a:solidFill>
                  <a:srgbClr val="FFFFFF"/>
                </a:solidFill>
                <a:latin typeface="微软雅黑"/>
                <a:ea typeface="微软雅黑"/>
              </a:rPr>
              <a:t>11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2C2C2C"/>
                </a:solidFill>
                <a:latin typeface="微软雅黑"/>
                <a:ea typeface="微软雅黑"/>
              </a:rPr>
              <a:t>• DFS 找到的所有路径都是"合法的能量流路径"（类型序列匹配 + 约束满足）</a:t>
            </a:r>
          </a:p>
          <a:p>
            <a:pPr algn="l"/>
            <a:r>
              <a:rPr sz="1800">
                <a:solidFill>
                  <a:srgbClr val="2C2C2C"/>
                </a:solidFill>
                <a:latin typeface="微软雅黑"/>
                <a:ea typeface="微软雅黑"/>
              </a:rPr>
              <a:t>• 但路径长度可能差异很大 → 需要选最短</a:t>
            </a:r>
          </a:p>
          <a:p>
            <a:pPr algn="l"/>
            <a:r>
              <a:rPr sz="1800">
                <a:solidFill>
                  <a:srgbClr val="2C2C2C"/>
                </a:solidFill>
                <a:latin typeface="微软雅黑"/>
                <a:ea typeface="微软雅黑"/>
              </a:rPr>
              <a:t>• 方法：把每条用电器路径展开为位置路径，调用 computePositionPathLength 算总长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106984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  <a:latin typeface="微软雅黑"/>
                <a:ea typeface="微软雅黑"/>
              </a:rPr>
              <a:t>长度计算（computePositionPathLength）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2C2C2C"/>
                </a:solidFill>
                <a:latin typeface="微软雅黑"/>
                <a:ea typeface="微软雅黑"/>
              </a:rPr>
              <a:t>• 对位置路径每对相邻 (from, to)：用 Dijkstra 找位置图最短路 indexPath</a:t>
            </a:r>
          </a:p>
          <a:p>
            <a:pPr algn="l"/>
            <a:r>
              <a:rPr sz="1500">
                <a:solidFill>
                  <a:srgbClr val="2C2C2C"/>
                </a:solidFill>
                <a:latin typeface="微软雅黑"/>
                <a:ea typeface="微软雅黑"/>
              </a:rPr>
              <a:t>• 按 indexPath 顺序累加各段实际分支长度（用户确认 &gt; 参考 &gt; 默认 200mm）</a:t>
            </a:r>
          </a:p>
          <a:p>
            <a:pPr algn="l"/>
            <a:r>
              <a:rPr sz="1500">
                <a:solidFill>
                  <a:srgbClr val="2C2C2C"/>
                </a:solidFill>
                <a:latin typeface="微软雅黑"/>
                <a:ea typeface="微软雅黑"/>
              </a:rPr>
              <a:t>• 复杂度：O(n log n) per path，Dijkstra 占主导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9. 路径展开为真实走线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64592"/>
            <a:ext cx="137160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400" b="0">
                <a:solidFill>
                  <a:srgbClr val="FFFFFF"/>
                </a:solidFill>
                <a:latin typeface="微软雅黑"/>
                <a:ea typeface="微软雅黑"/>
              </a:rPr>
              <a:t>12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2C2C2C"/>
                </a:solidFill>
                <a:latin typeface="微软雅黑"/>
                <a:ea typeface="微软雅黑"/>
              </a:rPr>
              <a:t>• 用电器路径（如 [大灯, 控制器, 配电, 蓄电池]）只是逻辑链</a:t>
            </a:r>
          </a:p>
          <a:p>
            <a:pPr algn="l"/>
            <a:r>
              <a:rPr sz="1600">
                <a:solidFill>
                  <a:srgbClr val="2C2C2C"/>
                </a:solidFill>
                <a:latin typeface="微软雅黑"/>
                <a:ea typeface="微软雅黑"/>
              </a:rPr>
              <a:t>• 真实走线 = 用电器位置之间的位置级路径串联</a:t>
            </a:r>
          </a:p>
          <a:p>
            <a:pPr algn="l"/>
            <a:r>
              <a:rPr sz="1600">
                <a:solidFill>
                  <a:srgbClr val="2C2C2C"/>
                </a:solidFill>
                <a:latin typeface="微软雅黑"/>
                <a:ea typeface="微软雅黑"/>
              </a:rPr>
              <a:t>• 展开方法：对每对 (a, b) 位置调用 shortestPositionNames → Dijkstra 路径名序列</a:t>
            </a:r>
          </a:p>
          <a:p>
            <a:pPr algn="l"/>
            <a:r>
              <a:rPr sz="1600">
                <a:solidFill>
                  <a:srgbClr val="2C2C2C"/>
                </a:solidFill>
                <a:latin typeface="微软雅黑"/>
                <a:ea typeface="微软雅黑"/>
              </a:rPr>
              <a:t>• 锚点段特殊处理：用本回路自身的 回路途径分支点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6984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  <a:latin typeface="微软雅黑"/>
                <a:ea typeface="微软雅黑"/>
              </a:rPr>
              <a:t>拼接规则（去重首节点）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2C2C2C"/>
                </a:solidFill>
                <a:latin typeface="微软雅黑"/>
                <a:ea typeface="微软雅黑"/>
              </a:rPr>
              <a:t>• 前一段末尾 = 后一段首部 → 后一段从 index=1 开始拼接（避免重复节点）</a:t>
            </a:r>
          </a:p>
          <a:p>
            <a:pPr algn="l"/>
            <a:r>
              <a:rPr sz="1500">
                <a:solidFill>
                  <a:srgbClr val="2C2C2C"/>
                </a:solidFill>
                <a:latin typeface="微软雅黑"/>
                <a:ea typeface="微软雅黑"/>
              </a:rPr>
              <a:t>• 最终统一反转：源 → ... → 消费端</a:t>
            </a:r>
          </a:p>
          <a:p>
            <a:pPr algn="l"/>
            <a:r>
              <a:rPr sz="1500">
                <a:solidFill>
                  <a:srgbClr val="2C2C2C"/>
                </a:solidFill>
                <a:latin typeface="微软雅黑"/>
                <a:ea typeface="微软雅黑"/>
              </a:rPr>
              <a:t>• 最后通过 convertPositionPathToEdgeIds 把位置名序列转为 分支id 列表（前端需要）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10. 不绕路最短路对比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64592"/>
            <a:ext cx="137160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400" b="0">
                <a:solidFill>
                  <a:srgbClr val="FFFFFF"/>
                </a:solidFill>
                <a:latin typeface="微软雅黑"/>
                <a:ea typeface="微软雅黑"/>
              </a:rPr>
              <a:t>13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2C2C2C"/>
                </a:solidFill>
                <a:latin typeface="微软雅黑"/>
                <a:ea typeface="微软雅黑"/>
              </a:rPr>
              <a:t>• 不绕路 = 源位置 → 消费端位置 在位置图上的最短路</a:t>
            </a:r>
          </a:p>
          <a:p>
            <a:pPr algn="l"/>
            <a:r>
              <a:rPr sz="1800">
                <a:solidFill>
                  <a:srgbClr val="2C2C2C"/>
                </a:solidFill>
                <a:latin typeface="微软雅黑"/>
                <a:ea typeface="微软雅黑"/>
              </a:rPr>
              <a:t>• 调用 FindShortestPath.findShortestPathBetweenTwoPoint(adj, sourceIdx, consumerIdx)</a:t>
            </a:r>
          </a:p>
          <a:p>
            <a:pPr algn="l"/>
            <a:r>
              <a:rPr sz="1800">
                <a:solidFill>
                  <a:srgbClr val="2C2C2C"/>
                </a:solidFill>
                <a:latin typeface="微软雅黑"/>
                <a:ea typeface="微软雅黑"/>
              </a:rPr>
              <a:t>• 得到 indexPath → 名称序列 → 长度 = noDetourLength</a:t>
            </a:r>
          </a:p>
          <a:p>
            <a:pPr algn="l"/>
            <a:r>
              <a:rPr sz="1800">
                <a:solidFill>
                  <a:srgbClr val="2C2C2C"/>
                </a:solidFill>
                <a:latin typeface="微软雅黑"/>
                <a:ea typeface="微软雅黑"/>
              </a:rPr>
              <a:t>• 这个长度就是"理想情况下能量流应该走的最短距离"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106984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E86A33"/>
                </a:solidFill>
                <a:latin typeface="微软雅黑"/>
                <a:ea typeface="微软雅黑"/>
              </a:rPr>
              <a:t>绕路长度计算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2C2C2C"/>
                </a:solidFill>
                <a:latin typeface="微软雅黑"/>
                <a:ea typeface="微软雅黑"/>
              </a:rPr>
              <a:t>• detourLength = max(0, energyFlowLength - noDetourLength)</a:t>
            </a:r>
          </a:p>
          <a:p>
            <a:pPr algn="l"/>
            <a:r>
              <a:rPr sz="1500">
                <a:solidFill>
                  <a:srgbClr val="2C2C2C"/>
                </a:solidFill>
                <a:latin typeface="微软雅黑"/>
                <a:ea typeface="微软雅黑"/>
              </a:rPr>
              <a:t>• 下限保护：理论上下绕路可能更短（如合点恰好在最短路上），做 max 防止负数</a:t>
            </a:r>
          </a:p>
          <a:p>
            <a:pPr algn="l"/>
            <a:r>
              <a:rPr sz="1500">
                <a:solidFill>
                  <a:srgbClr val="2C2C2C"/>
                </a:solidFill>
                <a:latin typeface="微软雅黑"/>
                <a:ea typeface="微软雅黑"/>
              </a:rPr>
              <a:t>• 绕路长度 = 0 表示能量流路径已经是最短的</a:t>
            </a:r>
          </a:p>
          <a:p>
            <a:pPr algn="l"/>
            <a:r>
              <a:rPr sz="1500">
                <a:solidFill>
                  <a:srgbClr val="2C2C2C"/>
                </a:solidFill>
                <a:latin typeface="微软雅黑"/>
                <a:ea typeface="微软雅黑"/>
              </a:rPr>
              <a:t>• 绕路长度 &gt; 0 表示拓扑打断/绕线导致的额外走线距离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11. 汇总输出字段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64592"/>
            <a:ext cx="137160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400" b="0">
                <a:solidFill>
                  <a:srgbClr val="FFFFFF"/>
                </a:solidFill>
                <a:latin typeface="微软雅黑"/>
                <a:ea typeface="微软雅黑"/>
              </a:rPr>
              <a:t>14 / 18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097280"/>
          <a:ext cx="10698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/>
                <a:gridCol w="5349240"/>
              </a:tblGrid>
              <a:tr h="587828"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字段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说明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587828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1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</a:rPr>
                        <a:t>能量流绕路总数量(根)</a:t>
                      </a:r>
                    </a:p>
                  </a:txBody>
                  <a:tcPr/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</a:rPr>
                        <a:t>detourLength &gt; 0 的回路数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1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</a:rPr>
                        <a:t>能量流绕路数量占比(百分比)</a:t>
                      </a:r>
                    </a:p>
                  </a:txBody>
                  <a:tcPr/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</a:rPr>
                        <a:t>detour / analyzedCount × 100%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1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</a:rPr>
                        <a:t>能量流绕路长度总值(米)</a:t>
                      </a:r>
                    </a:p>
                  </a:txBody>
                  <a:tcPr/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</a:rPr>
                        <a:t>Σ detourLength (mm) / 1000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1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</a:rPr>
                        <a:t>能量流绕路长度均值(米/根)</a:t>
                      </a:r>
                    </a:p>
                  </a:txBody>
                  <a:tcPr/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</a:rPr>
                        <a:t>总值 / 绕路数量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1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</a:rPr>
                        <a:t>能量流途径分支id</a:t>
                      </a:r>
                    </a:p>
                  </a:txBody>
                  <a:tcPr/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</a:rPr>
                        <a:t>每条回路的能量流位置路径对应分支id列表</a:t>
                      </a:r>
                    </a:p>
                  </a:txBody>
                  <a:tcPr/>
                </a:tc>
              </a:tr>
              <a:tr h="58783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1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</a:rPr>
                        <a:t>能量流不绕路途径分支id</a:t>
                      </a:r>
                    </a:p>
                  </a:txBody>
                  <a:tcPr/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</a:rPr>
                        <a:t>不绕路最短路对应的分支id列表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394960"/>
            <a:ext cx="106984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E86A33"/>
                </a:solidFill>
                <a:latin typeface="微软雅黑"/>
                <a:ea typeface="微软雅黑"/>
              </a:rPr>
              <a:t>★ 每条回路还会输出 6 个明细字段（perCircuitResults）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52160"/>
            <a:ext cx="1069848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2C2C2C"/>
                </a:solidFill>
                <a:latin typeface="微软雅黑"/>
                <a:ea typeface="微软雅黑"/>
              </a:rPr>
              <a:t>包括：能量流回路id路径、用电器路径、绕路长度、不绕路长度、绕路/不绕路分支id等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12. 复杂度与安全阀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64592"/>
            <a:ext cx="137160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400" b="0">
                <a:solidFill>
                  <a:srgbClr val="FFFFFF"/>
                </a:solidFill>
                <a:latin typeface="微软雅黑"/>
                <a:ea typeface="微软雅黑"/>
              </a:rPr>
              <a:t>15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6984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  <a:latin typeface="微软雅黑"/>
                <a:ea typeface="微软雅黑"/>
              </a:rPr>
              <a:t>算法复杂度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2C2C2C"/>
                </a:solidFill>
                <a:latin typeface="微软雅黑"/>
                <a:ea typeface="微软雅黑"/>
              </a:rPr>
              <a:t>• DFS 模板匹配：O(branching^depth)，受 MAX_ENERGY_FLOW_PATHS=200 / MAX_ENERGY_FLOW_DEPTH=100 限制</a:t>
            </a:r>
          </a:p>
          <a:p>
            <a:pPr algn="l"/>
            <a:r>
              <a:rPr sz="1500">
                <a:solidFill>
                  <a:srgbClr val="2C2C2C"/>
                </a:solidFill>
                <a:latin typeface="微软雅黑"/>
                <a:ea typeface="微软雅黑"/>
              </a:rPr>
              <a:t>• Dijkstra 位置级路径：O(V²) per pair，V = 全连通位置数</a:t>
            </a:r>
          </a:p>
          <a:p>
            <a:pPr algn="l"/>
            <a:r>
              <a:rPr sz="1500">
                <a:solidFill>
                  <a:srgbClr val="2C2C2C"/>
                </a:solidFill>
                <a:latin typeface="微软雅黑"/>
                <a:ea typeface="微软雅黑"/>
              </a:rPr>
              <a:t>• 整条回路计算：O(pathCount × Dijkstra + DFS)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6984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E86A33"/>
                </a:solidFill>
                <a:latin typeface="微软雅黑"/>
                <a:ea typeface="微软雅黑"/>
              </a:rPr>
              <a:t>安全阀（防 OOM / 死循环）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0624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2C2C2C"/>
                </a:solidFill>
                <a:latin typeface="微软雅黑"/>
                <a:ea typeface="微软雅黑"/>
              </a:rPr>
              <a:t>• MAX_ENERGY_FLOW_PATHS = 200：DFS 找到 200 条路径立刻停止</a:t>
            </a:r>
          </a:p>
          <a:p>
            <a:pPr algn="l"/>
            <a:r>
              <a:rPr sz="1500">
                <a:solidFill>
                  <a:srgbClr val="2C2C2C"/>
                </a:solidFill>
                <a:latin typeface="微软雅黑"/>
                <a:ea typeface="微软雅黑"/>
              </a:rPr>
              <a:t>• MAX_ENERGY_FLOW_DEPTH = 100：用电器路径深度 &gt; 100 不再扩展</a:t>
            </a:r>
          </a:p>
          <a:p>
            <a:pPr algn="l"/>
            <a:r>
              <a:rPr sz="1500">
                <a:solidFill>
                  <a:srgbClr val="2C2C2C"/>
                </a:solidFill>
                <a:latin typeface="微软雅黑"/>
                <a:ea typeface="微软雅黑"/>
              </a:rPr>
              <a:t>• shouldSkipCircuit / isRuleCircuit：端点类型校验前置</a:t>
            </a:r>
          </a:p>
          <a:p>
            <a:pPr algn="l"/>
            <a:r>
              <a:rPr sz="1500">
                <a:solidFill>
                  <a:srgbClr val="2C2C2C"/>
                </a:solidFill>
                <a:latin typeface="微软雅黑"/>
                <a:ea typeface="微软雅黑"/>
              </a:rPr>
              <a:t>• isSignalNameValid：信号名关键字校验前置</a:t>
            </a:r>
          </a:p>
          <a:p>
            <a:pPr algn="l"/>
            <a:r>
              <a:rPr sz="1500">
                <a:solidFill>
                  <a:srgbClr val="2C2C2C"/>
                </a:solidFill>
                <a:latin typeface="微软雅黑"/>
                <a:ea typeface="微软雅黑"/>
              </a:rPr>
              <a:t>• 下限保护：detourLength = max(0, ef - noDetour)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案例：典型能量流路径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64592"/>
            <a:ext cx="137160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400" b="0">
                <a:solidFill>
                  <a:srgbClr val="FFFFFF"/>
                </a:solidFill>
                <a:latin typeface="微软雅黑"/>
                <a:ea typeface="微软雅黑"/>
              </a:rPr>
              <a:t>16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6984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  <a:latin typeface="微软雅黑"/>
                <a:ea typeface="微软雅黑"/>
              </a:rPr>
              <a:t>场景：大灯回路（控制器 → 用电器）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2C2C2C"/>
                </a:solidFill>
                <a:latin typeface="微软雅黑"/>
                <a:ea typeface="微软雅黑"/>
              </a:rPr>
              <a:t>• 起/终点：BCM控制器(用电器) ↔ 大灯(用电器)</a:t>
            </a:r>
          </a:p>
          <a:p>
            <a:pPr algn="l"/>
            <a:r>
              <a:rPr sz="1500">
                <a:solidFill>
                  <a:srgbClr val="2C2C2C"/>
                </a:solidFill>
                <a:latin typeface="微软雅黑"/>
                <a:ea typeface="微软雅黑"/>
              </a:rPr>
              <a:t>• 信号名：DRV_LAMP_FRONT_LEFT（命中 DRV）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106984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E86A33"/>
                </a:solidFill>
                <a:latin typeface="微软雅黑"/>
                <a:ea typeface="微软雅黑"/>
              </a:rPr>
              <a:t>能量流路径（按模板 [A, C, P, G]）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2C2C2C"/>
                </a:solidFill>
                <a:latin typeface="微软雅黑"/>
                <a:ea typeface="微软雅黑"/>
              </a:rPr>
              <a:t>• 逻辑链：大灯 → BCM控制器 → 前舱PDU → 发电机</a:t>
            </a:r>
          </a:p>
          <a:p>
            <a:pPr algn="l"/>
            <a:r>
              <a:rPr sz="1500">
                <a:solidFill>
                  <a:srgbClr val="2C2C2C"/>
                </a:solidFill>
                <a:latin typeface="微软雅黑"/>
                <a:ea typeface="微软雅黑"/>
              </a:rPr>
              <a:t>• 展开为位置路径：[大灯位置] → ... → [发电机位置]（经 12 个位置点）</a:t>
            </a:r>
          </a:p>
          <a:p>
            <a:pPr algn="l"/>
            <a:r>
              <a:rPr sz="1500">
                <a:solidFill>
                  <a:srgbClr val="2C2C2C"/>
                </a:solidFill>
                <a:latin typeface="微软雅黑"/>
                <a:ea typeface="微软雅黑"/>
              </a:rPr>
              <a:t>• 能量流路径长度 efLen = 4250 mm</a:t>
            </a:r>
          </a:p>
          <a:p>
            <a:pPr algn="l"/>
            <a:r>
              <a:rPr sz="1500">
                <a:solidFill>
                  <a:srgbClr val="2C2C2C"/>
                </a:solidFill>
                <a:latin typeface="微软雅黑"/>
                <a:ea typeface="微软雅黑"/>
              </a:rPr>
              <a:t>• 不绕路最短路（发电机 → 大灯）= 3800 mm</a:t>
            </a:r>
          </a:p>
          <a:p>
            <a:pPr algn="l"/>
            <a:r>
              <a:rPr sz="1500">
                <a:solidFill>
                  <a:srgbClr val="2C2C2C"/>
                </a:solidFill>
                <a:latin typeface="微软雅黑"/>
                <a:ea typeface="微软雅黑"/>
              </a:rPr>
              <a:t>• 绕路长度 = max(0, 4250 - 3800) = 450 mm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29200"/>
            <a:ext cx="106984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微软雅黑"/>
                <a:ea typeface="微软雅黑"/>
              </a:rPr>
              <a:t>汇总输出（这条回路）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5778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2C2C2C"/>
                </a:solidFill>
                <a:latin typeface="微软雅黑"/>
                <a:ea typeface="微软雅黑"/>
              </a:rPr>
              <a:t>• 能量流绕路总数量(根) = 1，能量流绕路长度总值(米) = 0.45</a:t>
            </a:r>
          </a:p>
          <a:p>
            <a:pPr algn="l"/>
            <a:r>
              <a:rPr sz="1400">
                <a:solidFill>
                  <a:srgbClr val="2C2C2C"/>
                </a:solidFill>
                <a:latin typeface="微软雅黑"/>
                <a:ea typeface="微软雅黑"/>
              </a:rPr>
              <a:t>• 能量流回路id路径 = [大灯回路id, BCM-PDU回路id, PDU-发电机回路id]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总结 ·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64592"/>
            <a:ext cx="137160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400" b="0">
                <a:solidFill>
                  <a:srgbClr val="FFFFFF"/>
                </a:solidFill>
                <a:latin typeface="微软雅黑"/>
                <a:ea typeface="微软雅黑"/>
              </a:rPr>
              <a:t>17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6984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  <a:latin typeface="微软雅黑"/>
                <a:ea typeface="微软雅黑"/>
              </a:rPr>
              <a:t>算法核心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2C2C2C"/>
                </a:solidFill>
                <a:latin typeface="微软雅黑"/>
                <a:ea typeface="微软雅黑"/>
              </a:rPr>
              <a:t>• 用电器图 + 位置图双图协同</a:t>
            </a:r>
          </a:p>
          <a:p>
            <a:pPr algn="l"/>
            <a:r>
              <a:rPr sz="1500">
                <a:solidFill>
                  <a:srgbClr val="2C2C2C"/>
                </a:solidFill>
                <a:latin typeface="微软雅黑"/>
                <a:ea typeface="微软雅黑"/>
              </a:rPr>
              <a:t>• 优先级模板按 7 规则生成类型序列，从高到低匹配</a:t>
            </a:r>
          </a:p>
          <a:p>
            <a:pPr algn="l"/>
            <a:r>
              <a:rPr sz="1500">
                <a:solidFill>
                  <a:srgbClr val="2C2C2C"/>
                </a:solidFill>
                <a:latin typeface="微软雅黑"/>
                <a:ea typeface="微软雅黑"/>
              </a:rPr>
              <a:t>• 锚点路径强制经过本回路两端（保证合点/焊点位置语义）</a:t>
            </a:r>
          </a:p>
          <a:p>
            <a:pPr algn="l"/>
            <a:r>
              <a:rPr sz="1500">
                <a:solidFill>
                  <a:srgbClr val="2C2C2C"/>
                </a:solidFill>
                <a:latin typeface="微软雅黑"/>
                <a:ea typeface="微软雅黑"/>
              </a:rPr>
              <a:t>• DFS 严格类型匹配 + ECU→ECU 信号名校验</a:t>
            </a:r>
          </a:p>
          <a:p>
            <a:pPr algn="l"/>
            <a:r>
              <a:rPr sz="1500">
                <a:solidFill>
                  <a:srgbClr val="2C2C2C"/>
                </a:solidFill>
                <a:latin typeface="微软雅黑"/>
                <a:ea typeface="微软雅黑"/>
              </a:rPr>
              <a:t>• Dijkstra 展开为真实走线，对比不绕路最短路计算绕路长度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6984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E86A33"/>
                </a:solidFill>
                <a:latin typeface="微软雅黑"/>
                <a:ea typeface="微软雅黑"/>
              </a:rPr>
              <a:t>关键优势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0624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2C2C2C"/>
                </a:solidFill>
                <a:latin typeface="微软雅黑"/>
                <a:ea typeface="微软雅黑"/>
              </a:rPr>
              <a:t>• 模板化：新增回路类型只需补充模板，算法主体不动</a:t>
            </a:r>
          </a:p>
          <a:p>
            <a:pPr algn="l"/>
            <a:r>
              <a:rPr sz="1500">
                <a:solidFill>
                  <a:srgbClr val="2C2C2C"/>
                </a:solidFill>
                <a:latin typeface="微软雅黑"/>
                <a:ea typeface="微软雅黑"/>
              </a:rPr>
              <a:t>• 可解释：每条能量流路径都有完整的类型序列 + 位置序列可追溯</a:t>
            </a:r>
          </a:p>
          <a:p>
            <a:pPr algn="l"/>
            <a:r>
              <a:rPr sz="1500">
                <a:solidFill>
                  <a:srgbClr val="2C2C2C"/>
                </a:solidFill>
                <a:latin typeface="微软雅黑"/>
                <a:ea typeface="微软雅黑"/>
              </a:rPr>
              <a:t>• 安全：多级安全阀（路径数/深度/下限保护）防止边界 case 崩溃</a:t>
            </a:r>
          </a:p>
          <a:p>
            <a:pPr algn="l"/>
            <a:r>
              <a:rPr sz="1500">
                <a:solidFill>
                  <a:srgbClr val="2C2C2C"/>
                </a:solidFill>
                <a:latin typeface="微软雅黑"/>
                <a:ea typeface="微软雅黑"/>
              </a:rPr>
              <a:t>• 语义正确：合点永远作为中间节点，不参与叶子端选取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64592"/>
            <a:ext cx="137160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400" b="0">
                <a:solidFill>
                  <a:srgbClr val="FFFFFF"/>
                </a:solidFill>
                <a:latin typeface="微软雅黑"/>
                <a:ea typeface="微软雅黑"/>
              </a:rPr>
              <a:t>18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5156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0" b="1">
                <a:solidFill>
                  <a:srgbClr val="1F4E79"/>
                </a:solidFill>
                <a:latin typeface="微软雅黑"/>
                <a:ea typeface="微软雅黑"/>
              </a:rPr>
              <a:t>Q &amp;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600" b="0">
                <a:solidFill>
                  <a:srgbClr val="2C2C2C"/>
                </a:solidFill>
                <a:latin typeface="微软雅黑"/>
                <a:ea typeface="微软雅黑"/>
              </a:rPr>
              <a:t>代码位置：src/main/java/HarnessPackOpti/Algorithm/IntergateCircuitInfo.java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600" b="0">
                <a:solidFill>
                  <a:srgbClr val="2C2C2C"/>
                </a:solidFill>
                <a:latin typeface="微软雅黑"/>
                <a:ea typeface="微软雅黑"/>
              </a:rPr>
              <a:t>入口方法：calculateEnergyFlowDetour() / computeSingleCircuitEnergyFlow()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>
                <a:solidFill>
                  <a:srgbClr val="1F4E79"/>
                </a:solidFill>
                <a:latin typeface="微软雅黑"/>
                <a:ea typeface="微软雅黑"/>
              </a:rPr>
              <a:t>HarnessPackOpti · 线束拓扑优化项目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